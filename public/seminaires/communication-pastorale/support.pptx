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40080"/>
            <a:ext cx="1105783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SÉMINAIRE SENEC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1057839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numérique au service de la communication éducative et pastorale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66928" y="3200400"/>
            <a:ext cx="2194560" cy="64008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3401568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CE7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une présence cohérente, moderne et engageante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6928" y="4297680"/>
            <a:ext cx="3503066" cy="1371600"/>
          </a:xfrm>
          <a:prstGeom prst="roundRect">
            <a:avLst>
              <a:gd name="adj" fmla="val 6667"/>
            </a:avLst>
          </a:prstGeom>
          <a:solidFill>
            <a:srgbClr val="16382A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4443984"/>
            <a:ext cx="310073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68096" y="4864608"/>
            <a:ext cx="310073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visibilité à la communion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" y="5266944"/>
            <a:ext cx="310073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9C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Sortir de la simple présence.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4314" y="4297680"/>
            <a:ext cx="3503066" cy="1371600"/>
          </a:xfrm>
          <a:prstGeom prst="roundRect">
            <a:avLst>
              <a:gd name="adj" fmla="val 6667"/>
            </a:avLst>
          </a:prstGeom>
          <a:solidFill>
            <a:srgbClr val="16382A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5482" y="4443984"/>
            <a:ext cx="310073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45482" y="4864608"/>
            <a:ext cx="310073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message à la présence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45482" y="5266944"/>
            <a:ext cx="310073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9C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Habiter durablement les canaux.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21701" y="4297680"/>
            <a:ext cx="3503066" cy="1371600"/>
          </a:xfrm>
          <a:prstGeom prst="roundRect">
            <a:avLst>
              <a:gd name="adj" fmla="val 6667"/>
            </a:avLst>
          </a:prstGeom>
          <a:solidFill>
            <a:srgbClr val="16382A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2869" y="4443984"/>
            <a:ext cx="310073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22869" y="4864608"/>
            <a:ext cx="310073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numérique à la mission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2869" y="5266944"/>
            <a:ext cx="310073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9C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Servir le projet éducatif et pastoral.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594360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FB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contextuelle • 20 minutes • Séminaire des communicateurs de l'Éducation Catholique de Côte d'Ivoire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926080" cy="109728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108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DIAPOSITIVE 02 /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de départ : les TDR fixent une ambition claire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350" i="1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Renforcer l'image de marque, le positionnement et le rayonnement de l'Éducation Catholique.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1371600" cy="41148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139696"/>
            <a:ext cx="11057839" cy="1017478"/>
          </a:xfrm>
          <a:prstGeom prst="roundRect">
            <a:avLst>
              <a:gd name="adj" fmla="val 6291"/>
            </a:avLst>
          </a:prstGeom>
          <a:solidFill>
            <a:srgbClr val="E9EEFA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139696"/>
            <a:ext cx="73152" cy="101747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139696"/>
            <a:ext cx="10655503" cy="101747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opérationnelle des TDR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3340054"/>
            <a:ext cx="11057839" cy="271327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02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Professionnaliser la communication institutionnelle.</a:t>
            </a:r>
            <a:pPr algn="l" marL="342900" indent="-342900">
              <a:lnSpc>
                <a:spcPct val="102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Maîtriser les outils numériques et l'IA.</a:t>
            </a:r>
            <a:pPr algn="l" marL="342900" indent="-342900">
              <a:lnSpc>
                <a:spcPct val="102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Promouvoir une pratique éthique et responsable.</a:t>
            </a:r>
            <a:pPr algn="l" marL="342900" indent="-342900">
              <a:lnSpc>
                <a:spcPct val="102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Mutualiser les bonnes pratiques.</a:t>
            </a:r>
            <a:pPr algn="l" marL="342900" indent="-342900">
              <a:lnSpc>
                <a:spcPct val="102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Préparer un plan d'action de communication.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6144768"/>
            <a:ext cx="11057839" cy="457200"/>
          </a:xfrm>
          <a:prstGeom prst="roundRect">
            <a:avLst>
              <a:gd name="adj" fmla="val 12000"/>
            </a:avLst>
          </a:prstGeom>
          <a:solidFill>
            <a:srgbClr val="F7EFD9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6144768"/>
            <a:ext cx="64008" cy="457200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6144768"/>
            <a:ext cx="10746943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de cette session : passer du bon usage des outils à une stratégie de présence.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656539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SENEC · 24 juin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95967" y="65653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926080" cy="109728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108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DIAPOSITIVE 03 /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le numérique change la communication éducative et pastorale 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350" i="1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numérique ne crée pas seulement de nouveaux canaux ; il transforme la relation, l'attention et la confiance.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1371600" cy="41148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139696"/>
            <a:ext cx="3551834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2139696"/>
            <a:ext cx="73152" cy="2798064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286000"/>
            <a:ext cx="322265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8096" y="2560320"/>
            <a:ext cx="3222650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audience dispersée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68096" y="2999232"/>
            <a:ext cx="3222650" cy="1938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Parents, élèves, enseignants, partenaires et anciens élèves ne s'informent plus aux mêmes endroits ni au même rythme.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19930" y="2139696"/>
            <a:ext cx="3551834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19930" y="2139696"/>
            <a:ext cx="73152" cy="2798064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15" name="Text 13"/>
          <p:cNvSpPr/>
          <p:nvPr/>
        </p:nvSpPr>
        <p:spPr>
          <a:xfrm>
            <a:off x="4521098" y="2286000"/>
            <a:ext cx="322265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1098" y="2560320"/>
            <a:ext cx="3222650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attention fragile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21098" y="2999232"/>
            <a:ext cx="3222650" cy="1938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message utile peut devenir invisible s'il n'est pas clair, bien ciblé, court, régulier et crédible.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72933" y="2139696"/>
            <a:ext cx="3551834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72933" y="2139696"/>
            <a:ext cx="73152" cy="2798064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20" name="Text 18"/>
          <p:cNvSpPr/>
          <p:nvPr/>
        </p:nvSpPr>
        <p:spPr>
          <a:xfrm>
            <a:off x="8274101" y="2286000"/>
            <a:ext cx="322265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4101" y="2560320"/>
            <a:ext cx="3222650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confiance à construire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74101" y="2999232"/>
            <a:ext cx="3222650" cy="1938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l'espace numérique, la réputation dépend de la cohérence entre paroles, images, délais de réponse et actes.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5303520"/>
            <a:ext cx="1721053" cy="566928"/>
          </a:xfrm>
          <a:prstGeom prst="roundRect">
            <a:avLst>
              <a:gd name="adj" fmla="val 16129"/>
            </a:avLst>
          </a:prstGeom>
          <a:solidFill>
            <a:srgbClr val="176B4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5303520"/>
            <a:ext cx="1721053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434285" y="5303520"/>
            <a:ext cx="1721053" cy="566928"/>
          </a:xfrm>
          <a:prstGeom prst="roundRect">
            <a:avLst>
              <a:gd name="adj" fmla="val 16129"/>
            </a:avLst>
          </a:prstGeom>
          <a:solidFill>
            <a:srgbClr val="176B45"/>
          </a:solidFill>
          <a:ln/>
        </p:spPr>
      </p:sp>
      <p:sp>
        <p:nvSpPr>
          <p:cNvPr id="26" name="Text 24"/>
          <p:cNvSpPr/>
          <p:nvPr/>
        </p:nvSpPr>
        <p:spPr>
          <a:xfrm>
            <a:off x="2434285" y="5303520"/>
            <a:ext cx="1721053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Rassurer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01642" y="5303520"/>
            <a:ext cx="1721053" cy="566928"/>
          </a:xfrm>
          <a:prstGeom prst="roundRect">
            <a:avLst>
              <a:gd name="adj" fmla="val 16129"/>
            </a:avLst>
          </a:prstGeom>
          <a:solidFill>
            <a:srgbClr val="176B45"/>
          </a:solidFill>
          <a:ln/>
        </p:spPr>
      </p:sp>
      <p:sp>
        <p:nvSpPr>
          <p:cNvPr id="28" name="Text 26"/>
          <p:cNvSpPr/>
          <p:nvPr/>
        </p:nvSpPr>
        <p:spPr>
          <a:xfrm>
            <a:off x="4301642" y="5303520"/>
            <a:ext cx="1721053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69000" y="5303520"/>
            <a:ext cx="1721053" cy="566928"/>
          </a:xfrm>
          <a:prstGeom prst="roundRect">
            <a:avLst>
              <a:gd name="adj" fmla="val 16129"/>
            </a:avLst>
          </a:prstGeom>
          <a:solidFill>
            <a:srgbClr val="176B45"/>
          </a:solidFill>
          <a:ln/>
        </p:spPr>
      </p:sp>
      <p:sp>
        <p:nvSpPr>
          <p:cNvPr id="30" name="Text 28"/>
          <p:cNvSpPr/>
          <p:nvPr/>
        </p:nvSpPr>
        <p:spPr>
          <a:xfrm>
            <a:off x="6169000" y="5303520"/>
            <a:ext cx="1721053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Mobiliser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36357" y="5303520"/>
            <a:ext cx="1721053" cy="566928"/>
          </a:xfrm>
          <a:prstGeom prst="roundRect">
            <a:avLst>
              <a:gd name="adj" fmla="val 16129"/>
            </a:avLst>
          </a:prstGeom>
          <a:solidFill>
            <a:srgbClr val="176B45"/>
          </a:solidFill>
          <a:ln/>
        </p:spPr>
      </p:sp>
      <p:sp>
        <p:nvSpPr>
          <p:cNvPr id="32" name="Text 30"/>
          <p:cNvSpPr/>
          <p:nvPr/>
        </p:nvSpPr>
        <p:spPr>
          <a:xfrm>
            <a:off x="8036357" y="5303520"/>
            <a:ext cx="1721053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Témoigner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903714" y="5303520"/>
            <a:ext cx="1721053" cy="566928"/>
          </a:xfrm>
          <a:prstGeom prst="roundRect">
            <a:avLst>
              <a:gd name="adj" fmla="val 16129"/>
            </a:avLst>
          </a:prstGeom>
          <a:solidFill>
            <a:srgbClr val="176B45"/>
          </a:solidFill>
          <a:ln/>
        </p:spPr>
      </p:sp>
      <p:sp>
        <p:nvSpPr>
          <p:cNvPr id="34" name="Text 32"/>
          <p:cNvSpPr/>
          <p:nvPr/>
        </p:nvSpPr>
        <p:spPr>
          <a:xfrm>
            <a:off x="9903714" y="5303520"/>
            <a:ext cx="1721053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Rayonner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66928" y="6144768"/>
            <a:ext cx="11057839" cy="457200"/>
          </a:xfrm>
          <a:prstGeom prst="roundRect">
            <a:avLst>
              <a:gd name="adj" fmla="val 12000"/>
            </a:avLst>
          </a:prstGeom>
          <a:solidFill>
            <a:srgbClr val="F7EFD9"/>
          </a:solidFill>
          <a:ln/>
        </p:spPr>
      </p:sp>
      <p:sp>
        <p:nvSpPr>
          <p:cNvPr id="36" name="Shape 34"/>
          <p:cNvSpPr/>
          <p:nvPr/>
        </p:nvSpPr>
        <p:spPr>
          <a:xfrm>
            <a:off x="566928" y="6144768"/>
            <a:ext cx="64008" cy="457200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6144768"/>
            <a:ext cx="10746943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question centrale n'est plus : « Que publions-nous ? » mais : « Quelle présence voulons-nous construire dans la durée ? »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66928" y="656539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SENEC · 24 juin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795967" y="65653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926080" cy="109728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108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DIAPOSITIVE 04 /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Présence numérique : la cohérence avant la performance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350" i="1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présence forte est lisible, régulière, incarnée et alignée sur la mission éducative et pastorale.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1371600" cy="41148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139696"/>
            <a:ext cx="11057839" cy="1017478"/>
          </a:xfrm>
          <a:prstGeom prst="roundRect">
            <a:avLst>
              <a:gd name="adj" fmla="val 6291"/>
            </a:avLst>
          </a:prstGeom>
          <a:solidFill>
            <a:srgbClr val="F0EAFA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139696"/>
            <a:ext cx="73152" cy="1017478"/>
          </a:xfrm>
          <a:prstGeom prst="rect">
            <a:avLst/>
          </a:prstGeom>
          <a:solidFill>
            <a:srgbClr val="7C4DBC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139696"/>
            <a:ext cx="10655503" cy="101747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Présence cohérente — quatre piliers indissociables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3340054"/>
            <a:ext cx="5428336" cy="1265197"/>
          </a:xfrm>
          <a:prstGeom prst="roundRect">
            <a:avLst>
              <a:gd name="adj" fmla="val 5782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3340054"/>
            <a:ext cx="73152" cy="1265197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3486358"/>
            <a:ext cx="5099152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096" y="3760678"/>
            <a:ext cx="5099152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sommes-nous ?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68096" y="4199590"/>
            <a:ext cx="5099152" cy="40566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Mission, valeurs, ton, identité visuelle.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6432" y="3340054"/>
            <a:ext cx="5428336" cy="1265197"/>
          </a:xfrm>
          <a:prstGeom prst="roundRect">
            <a:avLst>
              <a:gd name="adj" fmla="val 5782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6432" y="3340054"/>
            <a:ext cx="73152" cy="1265197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18" name="Text 16"/>
          <p:cNvSpPr/>
          <p:nvPr/>
        </p:nvSpPr>
        <p:spPr>
          <a:xfrm>
            <a:off x="6397600" y="3486358"/>
            <a:ext cx="5099152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97600" y="3760678"/>
            <a:ext cx="5099152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devons-nous dire ?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397600" y="4199590"/>
            <a:ext cx="5099152" cy="40566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Information, témoignage, appel, formation.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788131"/>
            <a:ext cx="5428336" cy="1265197"/>
          </a:xfrm>
          <a:prstGeom prst="roundRect">
            <a:avLst>
              <a:gd name="adj" fmla="val 5782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" y="4788131"/>
            <a:ext cx="73152" cy="1265197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" y="4934435"/>
            <a:ext cx="5099152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CANAUX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8096" y="5208755"/>
            <a:ext cx="5099152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Où et comment ?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68096" y="5647667"/>
            <a:ext cx="5099152" cy="40566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bon média, au bon rythme, pour le bon public.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96432" y="4788131"/>
            <a:ext cx="5428336" cy="1265197"/>
          </a:xfrm>
          <a:prstGeom prst="roundRect">
            <a:avLst>
              <a:gd name="adj" fmla="val 5782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96432" y="4788131"/>
            <a:ext cx="73152" cy="1265197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28" name="Text 26"/>
          <p:cNvSpPr/>
          <p:nvPr/>
        </p:nvSpPr>
        <p:spPr>
          <a:xfrm>
            <a:off x="6397600" y="4934435"/>
            <a:ext cx="5099152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ÉTHIQUE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97600" y="5208755"/>
            <a:ext cx="5099152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quelles limites ?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397600" y="5647667"/>
            <a:ext cx="5099152" cy="40566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Vérité, respect, vie privée, discernement.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6144768"/>
            <a:ext cx="11057839" cy="457200"/>
          </a:xfrm>
          <a:prstGeom prst="roundRect">
            <a:avLst>
              <a:gd name="adj" fmla="val 12000"/>
            </a:avLst>
          </a:prstGeom>
          <a:solidFill>
            <a:srgbClr val="F7EFD9"/>
          </a:solidFill>
          <a:ln/>
        </p:spPr>
      </p:sp>
      <p:sp>
        <p:nvSpPr>
          <p:cNvPr id="32" name="Shape 30"/>
          <p:cNvSpPr/>
          <p:nvPr/>
        </p:nvSpPr>
        <p:spPr>
          <a:xfrm>
            <a:off x="566928" y="6144768"/>
            <a:ext cx="64008" cy="457200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6144768"/>
            <a:ext cx="10746943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cohérence rend l'institution identifiable ; la régularité la rend fiable ; l'engagement la rend vivante.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656539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SENEC · 24 juin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795967" y="65653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926080" cy="109728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108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DIAPOSITIVE 05 /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Passer d'une communication réactive à une communication stratégique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350" i="1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niveaux d'organisation pour éviter l'improvisation permanente.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1371600" cy="41148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139696"/>
            <a:ext cx="11057839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253996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76B45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2539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17904" y="2231136"/>
            <a:ext cx="9923983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17904" y="2542032"/>
            <a:ext cx="9923983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 éditoriale, identité visuelle, principes éthiques.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154680"/>
            <a:ext cx="11057839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2689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76B45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2689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17904" y="3246120"/>
            <a:ext cx="9923983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Calendrier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17904" y="3557016"/>
            <a:ext cx="9923983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Rythme de publication, temps forts liturgiques et scolaires.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4169664"/>
            <a:ext cx="11057839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4283964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76B45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" y="428396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17904" y="4261104"/>
            <a:ext cx="9923983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17904" y="4572000"/>
            <a:ext cx="9923983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Photos, témoignages, capsules, messages courts, dossiers.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5184648"/>
            <a:ext cx="11057839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" y="529894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76B45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" y="52989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517904" y="5276088"/>
            <a:ext cx="9923983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17904" y="5586984"/>
            <a:ext cx="9923983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Indicateurs, veille, réponses, gestion de crise, archivage.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6144768"/>
            <a:ext cx="11057839" cy="457200"/>
          </a:xfrm>
          <a:prstGeom prst="roundRect">
            <a:avLst>
              <a:gd name="adj" fmla="val 12000"/>
            </a:avLst>
          </a:prstGeom>
          <a:solidFill>
            <a:srgbClr val="F7EFD9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6144768"/>
            <a:ext cx="64008" cy="457200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6144768"/>
            <a:ext cx="10746943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Repère pratique : « un message – un public – un objectif – un canal – un indicateur ».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656539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SENEC · 24 juin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795967" y="65653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926080" cy="109728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108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DIAPOSITIVE 06 /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l'écosystème numérique d'un diocèse ou d'un établissement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350" i="1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pas multiplier les canaux : les organiser selon leur fonction.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1371600" cy="41148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139696"/>
            <a:ext cx="5428336" cy="882396"/>
          </a:xfrm>
          <a:prstGeom prst="roundRect">
            <a:avLst>
              <a:gd name="adj" fmla="val 6218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139696"/>
            <a:ext cx="64008" cy="882396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39696"/>
            <a:ext cx="5117440" cy="8823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web  </a:t>
            </a:r>
            <a:pPr algn="l" indent="0" marL="0">
              <a:buNone/>
            </a:pPr>
            <a:r>
              <a:rPr lang="en-US" sz="1200" i="1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Référence officielle.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6432" y="2139696"/>
            <a:ext cx="5428336" cy="882396"/>
          </a:xfrm>
          <a:prstGeom prst="roundRect">
            <a:avLst>
              <a:gd name="adj" fmla="val 6218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6432" y="2139696"/>
            <a:ext cx="64008" cy="882396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13" name="Text 11"/>
          <p:cNvSpPr/>
          <p:nvPr/>
        </p:nvSpPr>
        <p:spPr>
          <a:xfrm>
            <a:off x="6379312" y="2139696"/>
            <a:ext cx="5117440" cy="8823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 </a:t>
            </a:r>
            <a:pPr algn="l" indent="0" marL="0">
              <a:buNone/>
            </a:pPr>
            <a:r>
              <a:rPr lang="en-US" sz="1200" i="1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Communauté &amp; événements.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150108"/>
            <a:ext cx="5428336" cy="882396"/>
          </a:xfrm>
          <a:prstGeom prst="roundRect">
            <a:avLst>
              <a:gd name="adj" fmla="val 6218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150108"/>
            <a:ext cx="64008" cy="882396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150108"/>
            <a:ext cx="5117440" cy="8823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 </a:t>
            </a:r>
            <a:pPr algn="l" indent="0" marL="0">
              <a:buNone/>
            </a:pPr>
            <a:r>
              <a:rPr lang="en-US" sz="1200" i="1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Coordination &amp; proximité.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96432" y="3150108"/>
            <a:ext cx="5428336" cy="882396"/>
          </a:xfrm>
          <a:prstGeom prst="roundRect">
            <a:avLst>
              <a:gd name="adj" fmla="val 6218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6432" y="3150108"/>
            <a:ext cx="64008" cy="882396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19" name="Text 17"/>
          <p:cNvSpPr/>
          <p:nvPr/>
        </p:nvSpPr>
        <p:spPr>
          <a:xfrm>
            <a:off x="6379312" y="3150108"/>
            <a:ext cx="5117440" cy="8823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/ vidéo  </a:t>
            </a:r>
            <a:pPr algn="l" indent="0" marL="0">
              <a:buNone/>
            </a:pPr>
            <a:r>
              <a:rPr lang="en-US" sz="1200" i="1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Témoignages &amp; formation.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4160520"/>
            <a:ext cx="5428336" cy="882396"/>
          </a:xfrm>
          <a:prstGeom prst="roundRect">
            <a:avLst>
              <a:gd name="adj" fmla="val 6218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4160520"/>
            <a:ext cx="64008" cy="882396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160520"/>
            <a:ext cx="5117440" cy="8823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 </a:t>
            </a:r>
            <a:pPr algn="l" indent="0" marL="0">
              <a:buNone/>
            </a:pPr>
            <a:r>
              <a:rPr lang="en-US" sz="1200" i="1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Relation durable.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96432" y="4160520"/>
            <a:ext cx="5428336" cy="882396"/>
          </a:xfrm>
          <a:prstGeom prst="roundRect">
            <a:avLst>
              <a:gd name="adj" fmla="val 6218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6432" y="4160520"/>
            <a:ext cx="64008" cy="882396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25" name="Text 23"/>
          <p:cNvSpPr/>
          <p:nvPr/>
        </p:nvSpPr>
        <p:spPr>
          <a:xfrm>
            <a:off x="6379312" y="4160520"/>
            <a:ext cx="5117440" cy="8823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Archives médias  </a:t>
            </a:r>
            <a:pPr algn="l" indent="0" marL="0">
              <a:buNone/>
            </a:pPr>
            <a:r>
              <a:rPr lang="en-US" sz="1200" i="1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Mémoire institutionnelle.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5170932"/>
            <a:ext cx="5428336" cy="882396"/>
          </a:xfrm>
          <a:prstGeom prst="roundRect">
            <a:avLst>
              <a:gd name="adj" fmla="val 6218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5170932"/>
            <a:ext cx="64008" cy="882396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5170932"/>
            <a:ext cx="5117440" cy="8823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 &amp; IA  </a:t>
            </a:r>
            <a:pPr algn="l" indent="0" marL="0">
              <a:buNone/>
            </a:pPr>
            <a:r>
              <a:rPr lang="en-US" sz="1200" i="1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Aide à la rédaction et au discernement.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" y="6144768"/>
            <a:ext cx="11057839" cy="457200"/>
          </a:xfrm>
          <a:prstGeom prst="roundRect">
            <a:avLst>
              <a:gd name="adj" fmla="val 12000"/>
            </a:avLst>
          </a:prstGeom>
          <a:solidFill>
            <a:srgbClr val="F7EFD9"/>
          </a:solidFill>
          <a:ln/>
        </p:spPr>
      </p:sp>
      <p:sp>
        <p:nvSpPr>
          <p:cNvPr id="30" name="Shape 28"/>
          <p:cNvSpPr/>
          <p:nvPr/>
        </p:nvSpPr>
        <p:spPr>
          <a:xfrm>
            <a:off x="566928" y="6144768"/>
            <a:ext cx="64008" cy="457200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6144768"/>
            <a:ext cx="10746943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Principe d'or : chaque canal doit avoir une mission claire. Le même message peut être adapté, mais jamais copié-collé mécaniquement.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6928" y="656539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SENEC · 24 juin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795967" y="65653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926080" cy="109728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108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DIAPOSITIVE 07 /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communication éducative : informer, former, faire grandir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350" i="1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l'éducation catholique, la communication ne sert pas seulement la promotion ; elle sert la mission.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1371600" cy="41148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139696"/>
            <a:ext cx="11057839" cy="1017478"/>
          </a:xfrm>
          <a:prstGeom prst="roundRect">
            <a:avLst>
              <a:gd name="adj" fmla="val 6291"/>
            </a:avLst>
          </a:prstGeom>
          <a:solidFill>
            <a:srgbClr val="F0EAFA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139696"/>
            <a:ext cx="73152" cy="1017478"/>
          </a:xfrm>
          <a:prstGeom prst="rect">
            <a:avLst/>
          </a:prstGeom>
          <a:solidFill>
            <a:srgbClr val="7C4DBC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139696"/>
            <a:ext cx="10655503" cy="101747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école visible parce qu'elle sert.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3340054"/>
            <a:ext cx="3551834" cy="2713274"/>
          </a:xfrm>
          <a:prstGeom prst="roundRect">
            <a:avLst>
              <a:gd name="adj" fmla="val 2696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3340054"/>
            <a:ext cx="73152" cy="2713274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3486358"/>
            <a:ext cx="322265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096" y="3760678"/>
            <a:ext cx="3222650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Rendre lisible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68096" y="4199590"/>
            <a:ext cx="3222650" cy="185373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décisions, les calendriers, les résultats et les opportunités.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19930" y="3340054"/>
            <a:ext cx="3551834" cy="2713274"/>
          </a:xfrm>
          <a:prstGeom prst="roundRect">
            <a:avLst>
              <a:gd name="adj" fmla="val 2696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19930" y="3340054"/>
            <a:ext cx="73152" cy="2713274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18" name="Text 16"/>
          <p:cNvSpPr/>
          <p:nvPr/>
        </p:nvSpPr>
        <p:spPr>
          <a:xfrm>
            <a:off x="4521098" y="3486358"/>
            <a:ext cx="322265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1098" y="3760678"/>
            <a:ext cx="3222650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Éduquer aux usages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21098" y="4199590"/>
            <a:ext cx="3222650" cy="185373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Vérité, prudence, respect et discernement face au numérique.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72933" y="3340054"/>
            <a:ext cx="3551834" cy="2713274"/>
          </a:xfrm>
          <a:prstGeom prst="roundRect">
            <a:avLst>
              <a:gd name="adj" fmla="val 2696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72933" y="3340054"/>
            <a:ext cx="73152" cy="2713274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23" name="Text 21"/>
          <p:cNvSpPr/>
          <p:nvPr/>
        </p:nvSpPr>
        <p:spPr>
          <a:xfrm>
            <a:off x="8274101" y="3486358"/>
            <a:ext cx="322265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FAIRE GRANDIR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74101" y="3760678"/>
            <a:ext cx="3222650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Tisser la confiance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274101" y="4199590"/>
            <a:ext cx="3222650" cy="185373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Renforcer l'appartenance à une communauté éducative vivante.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6144768"/>
            <a:ext cx="11057839" cy="457200"/>
          </a:xfrm>
          <a:prstGeom prst="roundRect">
            <a:avLst>
              <a:gd name="adj" fmla="val 12000"/>
            </a:avLst>
          </a:prstGeom>
          <a:solidFill>
            <a:srgbClr val="F7EFD9"/>
          </a:solidFill>
          <a:ln/>
        </p:spPr>
      </p:sp>
      <p:sp>
        <p:nvSpPr>
          <p:cNvPr id="27" name="Shape 25"/>
          <p:cNvSpPr/>
          <p:nvPr/>
        </p:nvSpPr>
        <p:spPr>
          <a:xfrm>
            <a:off x="566928" y="6144768"/>
            <a:ext cx="64008" cy="457200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6144768"/>
            <a:ext cx="10746943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Critère final : ce que nous publions aide-t-il une personne, une famille ou une communauté à mieux comprendre, mieux choisir et mieux agir ?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6928" y="656539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SENEC · 24 juin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795967" y="65653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926080" cy="109728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108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DIAPOSITIVE 08 /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présence pastorale : vérité, proximité, espérance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350" i="1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Communiquer pastoralement, c'est joindre la justesse du message à la qualité de la relation.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1371600" cy="41148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139696"/>
            <a:ext cx="3551834" cy="3913632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2139696"/>
            <a:ext cx="73152" cy="3913632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267712"/>
            <a:ext cx="322265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68096" y="2871216"/>
            <a:ext cx="322265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Vérité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" y="3236976"/>
            <a:ext cx="3222650" cy="2816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avant de publier.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Nommer sans déformer.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19930" y="2139696"/>
            <a:ext cx="3551834" cy="3913632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19930" y="2139696"/>
            <a:ext cx="73152" cy="3913632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15" name="Text 13"/>
          <p:cNvSpPr/>
          <p:nvPr/>
        </p:nvSpPr>
        <p:spPr>
          <a:xfrm>
            <a:off x="4521098" y="2267712"/>
            <a:ext cx="322265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521098" y="2871216"/>
            <a:ext cx="322265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Proximité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1098" y="3236976"/>
            <a:ext cx="3222650" cy="2816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Répondre avec respect.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Rendre la parole accessible.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72933" y="2139696"/>
            <a:ext cx="3551834" cy="3913632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72933" y="2139696"/>
            <a:ext cx="73152" cy="3913632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20" name="Text 18"/>
          <p:cNvSpPr/>
          <p:nvPr/>
        </p:nvSpPr>
        <p:spPr>
          <a:xfrm>
            <a:off x="8274101" y="2267712"/>
            <a:ext cx="322265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274101" y="2871216"/>
            <a:ext cx="322265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Espérance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74101" y="3236976"/>
            <a:ext cx="3222650" cy="2816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Valoriser les efforts.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un chemin positif.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6144768"/>
            <a:ext cx="11057839" cy="457200"/>
          </a:xfrm>
          <a:prstGeom prst="roundRect">
            <a:avLst>
              <a:gd name="adj" fmla="val 12000"/>
            </a:avLst>
          </a:prstGeom>
          <a:solidFill>
            <a:srgbClr val="F7EFD9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6144768"/>
            <a:ext cx="64008" cy="457200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6144768"/>
            <a:ext cx="10746943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communication pastorale ne se contente pas d'être belle : elle doit être vraie, utile, respectueuse et porteuse d'espérance.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656539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SENEC · 24 juin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795967" y="65653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926080" cy="109728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108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DIAPOSITIVE 09 /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Composer avec les publics : parler juste à chacun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350" i="1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message est efficace lorsqu'il rencontre un besoin réel et un public clairement identifié.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1371600" cy="41148"/>
          </a:xfrm>
          <a:prstGeom prst="rect">
            <a:avLst/>
          </a:prstGeom>
          <a:solidFill>
            <a:srgbClr val="D99A1E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39696"/>
          <a:ext cx="11057839" cy="3913632"/>
        </p:xfrm>
        <a:graphic>
          <a:graphicData uri="http://schemas.openxmlformats.org/drawingml/2006/table">
            <a:tbl>
              <a:tblPr/>
              <a:tblGrid>
                <a:gridCol w="1554480"/>
                <a:gridCol w="2011680"/>
                <a:gridCol w="2606040"/>
                <a:gridCol w="2468880"/>
                <a:gridCol w="2450592"/>
              </a:tblGrid>
              <a:tr h="6522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Verbes clés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Message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Preuve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45"/>
                    </a:solidFill>
                  </a:tcPr>
                </a:tc>
              </a:tr>
              <a:tr h="6522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76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Parents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1B2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Rassurer / Orienter / Associer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Newsletter, WhatsApp officiel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Décisions, calendrier, réussites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Photo, calendrier, témoignage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22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76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Élèves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1B2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Inspirer / Responsabiliser / Impliquer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Affiches, vidéo courte, classe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Engagement, défi, fierté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Portrait, capsule, projet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A"/>
                    </a:solidFill>
                  </a:tcPr>
                </a:tc>
              </a:tr>
              <a:tr h="6522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76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1B2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Informer / Coordonner / Valoriser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Intranet, réunion, WhatsApp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Décisions, rappels, ressources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 de service, compte-rendu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22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76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Partenaires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1B2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Prouver / Convaincre / Mobiliser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Site, rapport, courriel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Impact, chiffres, projet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Rapport, photo légendée, étude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A"/>
                    </a:solidFill>
                  </a:tcPr>
                </a:tc>
              </a:tr>
              <a:tr h="6522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76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Communauté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1B2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Témoigner / Fédérer / Rayonner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Facebook, presse, paroisse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Mission, action, espérance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A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Témoignage, vidéo, prière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6144768"/>
            <a:ext cx="11057839" cy="457200"/>
          </a:xfrm>
          <a:prstGeom prst="roundRect">
            <a:avLst>
              <a:gd name="adj" fmla="val 12000"/>
            </a:avLst>
          </a:prstGeom>
          <a:solidFill>
            <a:srgbClr val="F7EFD9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6144768"/>
            <a:ext cx="64008" cy="457200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6144768"/>
            <a:ext cx="10746943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de publier, répondre à 3 questions : pour qui ? pour produire quel effet ? avec quelle preuve ?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66928" y="656539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SENEC · 24 juin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795967" y="65653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926080" cy="109728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108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DIAPOSITIVE 10 /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formats qui engagent : raconter, prouver, inviter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350" i="1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communication engageante transforme une information en expérience compréhensible et partageable.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1371600" cy="41148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139696"/>
            <a:ext cx="3551834" cy="2713274"/>
          </a:xfrm>
          <a:prstGeom prst="roundRect">
            <a:avLst>
              <a:gd name="adj" fmla="val 2696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2139696"/>
            <a:ext cx="73152" cy="2713274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286000"/>
            <a:ext cx="322265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RACONTER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8096" y="2560320"/>
            <a:ext cx="3222650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Émotion utile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68096" y="2999232"/>
            <a:ext cx="3222650" cy="185373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Témoignage, portrait, avant/après, histoire d'élève ou d'enseignant.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19930" y="2139696"/>
            <a:ext cx="3551834" cy="2713274"/>
          </a:xfrm>
          <a:prstGeom prst="roundRect">
            <a:avLst>
              <a:gd name="adj" fmla="val 2696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19930" y="2139696"/>
            <a:ext cx="73152" cy="2713274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15" name="Text 13"/>
          <p:cNvSpPr/>
          <p:nvPr/>
        </p:nvSpPr>
        <p:spPr>
          <a:xfrm>
            <a:off x="4521098" y="2286000"/>
            <a:ext cx="322265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PROUVER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1098" y="2560320"/>
            <a:ext cx="3222650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Crédibilité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21098" y="2999232"/>
            <a:ext cx="3222650" cy="185373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Résultat, photo légendée, chiffre clé, citation, initiative documentée.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72933" y="2139696"/>
            <a:ext cx="3551834" cy="2713274"/>
          </a:xfrm>
          <a:prstGeom prst="roundRect">
            <a:avLst>
              <a:gd name="adj" fmla="val 2696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72933" y="2139696"/>
            <a:ext cx="73152" cy="2713274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20" name="Text 18"/>
          <p:cNvSpPr/>
          <p:nvPr/>
        </p:nvSpPr>
        <p:spPr>
          <a:xfrm>
            <a:off x="8274101" y="2286000"/>
            <a:ext cx="322265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4101" y="2560320"/>
            <a:ext cx="3222650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74101" y="2999232"/>
            <a:ext cx="3222650" cy="185373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Appel clair, inscription, partage, rencontre, prière, contribution.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5035850"/>
            <a:ext cx="11057839" cy="1017478"/>
          </a:xfrm>
          <a:prstGeom prst="roundRect">
            <a:avLst>
              <a:gd name="adj" fmla="val 6291"/>
            </a:avLst>
          </a:prstGeom>
          <a:solidFill>
            <a:srgbClr val="E6F2EB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5035850"/>
            <a:ext cx="73152" cy="1017478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" y="5035850"/>
            <a:ext cx="10655503" cy="101747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 RAPIDE : Réel • Accessible • Positif • Identifiable • Documenté • Éthique.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" y="6144768"/>
            <a:ext cx="11057839" cy="457200"/>
          </a:xfrm>
          <a:prstGeom prst="roundRect">
            <a:avLst>
              <a:gd name="adj" fmla="val 12000"/>
            </a:avLst>
          </a:prstGeom>
          <a:solidFill>
            <a:srgbClr val="F7EFD9"/>
          </a:solidFill>
          <a:ln/>
        </p:spPr>
      </p:sp>
      <p:sp>
        <p:nvSpPr>
          <p:cNvPr id="27" name="Shape 25"/>
          <p:cNvSpPr/>
          <p:nvPr/>
        </p:nvSpPr>
        <p:spPr>
          <a:xfrm>
            <a:off x="566928" y="6144768"/>
            <a:ext cx="64008" cy="457200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6144768"/>
            <a:ext cx="10746943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finalités, une méthode : RAPIDE.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6928" y="656539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SENEC · 24 juin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795967" y="65653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926080" cy="109728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108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DIAPOSITIVE 11 /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 numériques : prévenir plutôt que réparer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350" i="1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sérieux d'une institution se voit aussi dans sa capacité à anticiper les dérives.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1371600" cy="41148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139696"/>
            <a:ext cx="5428336" cy="1391551"/>
          </a:xfrm>
          <a:prstGeom prst="roundRect">
            <a:avLst>
              <a:gd name="adj" fmla="val 5257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2139696"/>
            <a:ext cx="73152" cy="1391551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286000"/>
            <a:ext cx="5099152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8096" y="2560320"/>
            <a:ext cx="5099152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personnelles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68096" y="2999232"/>
            <a:ext cx="5099152" cy="53201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d'enfants, autorisations, confidentialité.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6432" y="2139696"/>
            <a:ext cx="5428336" cy="1391551"/>
          </a:xfrm>
          <a:prstGeom prst="roundRect">
            <a:avLst>
              <a:gd name="adj" fmla="val 5257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6432" y="2139696"/>
            <a:ext cx="73152" cy="1391551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15" name="Text 13"/>
          <p:cNvSpPr/>
          <p:nvPr/>
        </p:nvSpPr>
        <p:spPr>
          <a:xfrm>
            <a:off x="6397600" y="2286000"/>
            <a:ext cx="5099152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97600" y="2560320"/>
            <a:ext cx="5099152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Rumeurs &amp; crise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397600" y="2999232"/>
            <a:ext cx="5099152" cy="53201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Urgence, émotion, commentaires, désinformation.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3714127"/>
            <a:ext cx="5428336" cy="1391551"/>
          </a:xfrm>
          <a:prstGeom prst="roundRect">
            <a:avLst>
              <a:gd name="adj" fmla="val 5257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" y="3714127"/>
            <a:ext cx="73152" cy="1391551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3860431"/>
            <a:ext cx="5099152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8096" y="4134751"/>
            <a:ext cx="5099152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institutionnelle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68096" y="4573663"/>
            <a:ext cx="5099152" cy="53201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Logo, ton, fautes, contradictions, improvisation.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96432" y="3714127"/>
            <a:ext cx="5428336" cy="1391551"/>
          </a:xfrm>
          <a:prstGeom prst="roundRect">
            <a:avLst>
              <a:gd name="adj" fmla="val 5257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96432" y="3714127"/>
            <a:ext cx="73152" cy="1391551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25" name="Text 23"/>
          <p:cNvSpPr/>
          <p:nvPr/>
        </p:nvSpPr>
        <p:spPr>
          <a:xfrm>
            <a:off x="6397600" y="3860431"/>
            <a:ext cx="5099152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97600" y="4134751"/>
            <a:ext cx="5099152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mal utilisée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397600" y="4573663"/>
            <a:ext cx="5099152" cy="53201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Hallucinations, plagiat, biais, fausses citations.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288557"/>
            <a:ext cx="11057839" cy="1112243"/>
          </a:xfrm>
          <a:prstGeom prst="roundRect">
            <a:avLst>
              <a:gd name="adj" fmla="val 5755"/>
            </a:avLst>
          </a:prstGeom>
          <a:solidFill>
            <a:srgbClr val="FBF1DA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5288557"/>
            <a:ext cx="73152" cy="1112243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" y="5288557"/>
            <a:ext cx="10655503" cy="111224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Réflexe professionnel : vérifier • autoriser • valider • archiver • répondre calmement.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6928" y="656539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SENEC · 24 juin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795967" y="65653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926080" cy="109728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108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DIAPOSITIVE 12 /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: un assistant, jamais une autorité pastorale ou institutionnelle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350" i="1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peut accélérer la production ; elle ne remplace ni le discernement, ni la responsabilité.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1371600" cy="41148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139696"/>
            <a:ext cx="3551834" cy="1865376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2139696"/>
            <a:ext cx="73152" cy="1865376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286000"/>
            <a:ext cx="322265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8096" y="2560320"/>
            <a:ext cx="3222650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L'amont du travail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68096" y="2999232"/>
            <a:ext cx="322265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Idées de sujets, angles, calendrier, brouillons.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19930" y="2139696"/>
            <a:ext cx="3551834" cy="1865376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19930" y="2139696"/>
            <a:ext cx="73152" cy="1865376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15" name="Text 13"/>
          <p:cNvSpPr/>
          <p:nvPr/>
        </p:nvSpPr>
        <p:spPr>
          <a:xfrm>
            <a:off x="4521098" y="2286000"/>
            <a:ext cx="322265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CLARIFIER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1098" y="2560320"/>
            <a:ext cx="3222650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L'écriture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21098" y="2999232"/>
            <a:ext cx="322265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Résumer, simplifier, traduire, adapter au public.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72933" y="2139696"/>
            <a:ext cx="3551834" cy="1865376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72933" y="2139696"/>
            <a:ext cx="73152" cy="1865376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20" name="Text 18"/>
          <p:cNvSpPr/>
          <p:nvPr/>
        </p:nvSpPr>
        <p:spPr>
          <a:xfrm>
            <a:off x="8274101" y="2286000"/>
            <a:ext cx="322265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4101" y="2560320"/>
            <a:ext cx="3222650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relecture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74101" y="2999232"/>
            <a:ext cx="322265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Orthographe, cohérence, ton, check-list de risques.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4187952"/>
            <a:ext cx="11057839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 des 4 V avant publication assistée par IA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4608576"/>
            <a:ext cx="2613584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" y="4608576"/>
            <a:ext cx="73152" cy="1444752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4736592"/>
            <a:ext cx="22844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768096" y="5340096"/>
            <a:ext cx="22844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Véracité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8096" y="5705856"/>
            <a:ext cx="228440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faits sont-ils vérifiés ?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81680" y="4608576"/>
            <a:ext cx="2613584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81680" y="4608576"/>
            <a:ext cx="73152" cy="1444752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31" name="Text 29"/>
          <p:cNvSpPr/>
          <p:nvPr/>
        </p:nvSpPr>
        <p:spPr>
          <a:xfrm>
            <a:off x="3582848" y="4736592"/>
            <a:ext cx="22844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3582848" y="5340096"/>
            <a:ext cx="22844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82848" y="5705856"/>
            <a:ext cx="228440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message reflète-t-il notre mission ?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96432" y="4608576"/>
            <a:ext cx="2613584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96432" y="4608576"/>
            <a:ext cx="73152" cy="1444752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36" name="Text 34"/>
          <p:cNvSpPr/>
          <p:nvPr/>
        </p:nvSpPr>
        <p:spPr>
          <a:xfrm>
            <a:off x="6397600" y="4736592"/>
            <a:ext cx="22844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6397600" y="5340096"/>
            <a:ext cx="22844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 privée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97600" y="5705856"/>
            <a:ext cx="228440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personnes sont-elles protégées ?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011183" y="4608576"/>
            <a:ext cx="2613584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  <a:effectLst>
            <a:outerShdw sx="100000" sy="100000" kx="0" ky="0" algn="bl" rotWithShape="0" blurRad="50800" dist="12700" dir="5400000">
              <a:srgbClr val="C8CFC9">
                <a:alpha val="4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011183" y="4608576"/>
            <a:ext cx="73152" cy="1444752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41" name="Text 39"/>
          <p:cNvSpPr/>
          <p:nvPr/>
        </p:nvSpPr>
        <p:spPr>
          <a:xfrm>
            <a:off x="9212351" y="4736592"/>
            <a:ext cx="22844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3400" dirty="0"/>
          </a:p>
        </p:txBody>
      </p:sp>
      <p:sp>
        <p:nvSpPr>
          <p:cNvPr id="42" name="Text 40"/>
          <p:cNvSpPr/>
          <p:nvPr/>
        </p:nvSpPr>
        <p:spPr>
          <a:xfrm>
            <a:off x="9212351" y="5340096"/>
            <a:ext cx="22844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212351" y="5705856"/>
            <a:ext cx="228440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responsable a-t-il signé la publication ?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66928" y="6144768"/>
            <a:ext cx="11057839" cy="457200"/>
          </a:xfrm>
          <a:prstGeom prst="roundRect">
            <a:avLst>
              <a:gd name="adj" fmla="val 12000"/>
            </a:avLst>
          </a:prstGeom>
          <a:solidFill>
            <a:srgbClr val="F7EFD9"/>
          </a:solidFill>
          <a:ln/>
        </p:spPr>
      </p:sp>
      <p:sp>
        <p:nvSpPr>
          <p:cNvPr id="45" name="Shape 43"/>
          <p:cNvSpPr/>
          <p:nvPr/>
        </p:nvSpPr>
        <p:spPr>
          <a:xfrm>
            <a:off x="566928" y="6144768"/>
            <a:ext cx="64008" cy="457200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6144768"/>
            <a:ext cx="10746943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propose. L'institution discerne. Le responsable valide.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66928" y="656539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SENEC · 24 juin 2026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795967" y="65653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6B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926080" cy="109728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108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DIAPOSITIVE 13 /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vers le cours interactif : apprendre en produisant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350" i="1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suite de la session transforme ces repères en compétences opérationnelles.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975104"/>
            <a:ext cx="1371600" cy="41148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139696"/>
            <a:ext cx="11057839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253996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76B45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2539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17904" y="2231136"/>
            <a:ext cx="9923983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flash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17904" y="2542032"/>
            <a:ext cx="9923983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Mesurer sa maturité numérique.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154680"/>
            <a:ext cx="11057839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2689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76B45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2689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17904" y="3246120"/>
            <a:ext cx="9923983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stratégique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17904" y="3557016"/>
            <a:ext cx="9923983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Publics, objectifs, messages.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4169664"/>
            <a:ext cx="11057839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4283964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76B45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" y="428396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17904" y="4261104"/>
            <a:ext cx="9923983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de production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17904" y="4572000"/>
            <a:ext cx="9923983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Posts, visuels, vidéo courte, IA.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5184648"/>
            <a:ext cx="11057839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7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" y="529894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76B45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" y="52989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517904" y="5276088"/>
            <a:ext cx="9923983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6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Auto-évaluation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17904" y="5586984"/>
            <a:ext cx="9923983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Quiz, cas pratiques, plan d'action.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6144768"/>
            <a:ext cx="11057839" cy="457200"/>
          </a:xfrm>
          <a:prstGeom prst="roundRect">
            <a:avLst>
              <a:gd name="adj" fmla="val 12000"/>
            </a:avLst>
          </a:prstGeom>
          <a:solidFill>
            <a:srgbClr val="F7EFD9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6144768"/>
            <a:ext cx="64008" cy="457200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6144768"/>
            <a:ext cx="10746943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1B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 final : une mini-stratégie de présence numérique et pastorale prête à adapter.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656539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SENEC · 24 juin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795967" y="65653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0080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DIAPOSITIVE DE CLÔTURE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057839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66928" y="201168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CE7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 une présence numérique missionnaire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6928" y="2542032"/>
            <a:ext cx="2194560" cy="54864"/>
          </a:xfrm>
          <a:prstGeom prst="rect">
            <a:avLst/>
          </a:prstGeom>
          <a:solidFill>
            <a:srgbClr val="D99A1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834640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D9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COMMUN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3236976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communicateurs capables de rendre l'Éducation Catholique plus visible, plus crédible, plus proche et plus rayonnante.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66928" y="4078224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FDC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présence numérique devient missionnaire lorsqu'elle unit compétence professionnelle, responsabilité éthique et sens du service.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5394960"/>
            <a:ext cx="2586152" cy="713232"/>
          </a:xfrm>
          <a:prstGeom prst="roundRect">
            <a:avLst>
              <a:gd name="adj" fmla="val 12821"/>
            </a:avLst>
          </a:prstGeom>
          <a:solidFill>
            <a:srgbClr val="16382A"/>
          </a:solidFill>
          <a:ln w="15875">
            <a:solidFill>
              <a:srgbClr val="D99A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5394960"/>
            <a:ext cx="2586152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Clarté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390824" y="5394960"/>
            <a:ext cx="2586152" cy="713232"/>
          </a:xfrm>
          <a:prstGeom prst="roundRect">
            <a:avLst>
              <a:gd name="adj" fmla="val 12821"/>
            </a:avLst>
          </a:prstGeom>
          <a:solidFill>
            <a:srgbClr val="16382A"/>
          </a:solidFill>
          <a:ln w="15875">
            <a:solidFill>
              <a:srgbClr val="D99A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90824" y="5394960"/>
            <a:ext cx="2586152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Cohérence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14720" y="5394960"/>
            <a:ext cx="2586152" cy="713232"/>
          </a:xfrm>
          <a:prstGeom prst="roundRect">
            <a:avLst>
              <a:gd name="adj" fmla="val 12821"/>
            </a:avLst>
          </a:prstGeom>
          <a:solidFill>
            <a:srgbClr val="16382A"/>
          </a:solidFill>
          <a:ln w="15875">
            <a:solidFill>
              <a:srgbClr val="D99A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4720" y="5394960"/>
            <a:ext cx="2586152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Crédibilité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038615" y="5394960"/>
            <a:ext cx="2586152" cy="713232"/>
          </a:xfrm>
          <a:prstGeom prst="roundRect">
            <a:avLst>
              <a:gd name="adj" fmla="val 12821"/>
            </a:avLst>
          </a:prstGeom>
          <a:solidFill>
            <a:srgbClr val="16382A"/>
          </a:solidFill>
          <a:ln w="15875">
            <a:solidFill>
              <a:srgbClr val="D99A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38615" y="5394960"/>
            <a:ext cx="2586152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Communion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SENEC — Secrétariat National de l'Enseignement Catholique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numérique au service de la communication éducative et pastorale</dc:title>
  <dc:subject>Le numérique au service de la communication éducative et pastorale</dc:subject>
  <dc:creator>EduWeb Planner</dc:creator>
  <cp:lastModifiedBy>EduWeb Planner</cp:lastModifiedBy>
  <cp:revision>1</cp:revision>
  <dcterms:created xsi:type="dcterms:W3CDTF">2026-06-22T22:58:49Z</dcterms:created>
  <dcterms:modified xsi:type="dcterms:W3CDTF">2026-06-22T22:58:49Z</dcterms:modified>
</cp:coreProperties>
</file>